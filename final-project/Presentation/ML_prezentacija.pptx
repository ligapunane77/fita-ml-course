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6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0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59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0810" y="502921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lv-LV" sz="3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“Rīgas dzīvokļu tirgus analīze klienta vajadzībām ar Machine Learning”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831747"/>
            <a:ext cx="320040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2227886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pPr algn="ctr"/>
            <a:r>
              <a:rPr lang="en-US" sz="2400" b="1" i="1" dirty="0">
                <a:solidFill>
                  <a:schemeClr val="bg1"/>
                </a:solidFill>
              </a:rPr>
              <a:t>Līga Punāne</a:t>
            </a:r>
            <a:endParaRPr lang="lv-LV" sz="2400" b="1" i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0068" y="2227886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r>
              <a:rPr lang="en-US" sz="2400" dirty="0" err="1">
                <a:solidFill>
                  <a:schemeClr val="bg1"/>
                </a:solidFill>
              </a:rPr>
              <a:t>Autors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lv-LV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971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4A77BAF-D8C0-488F-AB8B-F9848B22F719}"/>
              </a:ext>
            </a:extLst>
          </p:cNvPr>
          <p:cNvSpPr/>
          <p:nvPr/>
        </p:nvSpPr>
        <p:spPr>
          <a:xfrm>
            <a:off x="770068" y="295694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avots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lv-LV" dirty="0">
              <a:solidFill>
                <a:schemeClr val="bg1"/>
              </a:solidFill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33201AF-F502-474A-B6EA-5A6AC1C90FF8}"/>
              </a:ext>
            </a:extLst>
          </p:cNvPr>
          <p:cNvSpPr/>
          <p:nvPr/>
        </p:nvSpPr>
        <p:spPr>
          <a:xfrm>
            <a:off x="3246117" y="2949796"/>
            <a:ext cx="4106735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riga.csv  | 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Rīgas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dzīvokļu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sludinājumi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488E230A-F159-4C43-9158-080EC4A17387}"/>
              </a:ext>
            </a:extLst>
          </p:cNvPr>
          <p:cNvSpPr/>
          <p:nvPr/>
        </p:nvSpPr>
        <p:spPr>
          <a:xfrm>
            <a:off x="770068" y="3657419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r>
              <a:rPr lang="lv-LV" sz="24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Projekta mērķis</a:t>
            </a:r>
            <a:r>
              <a:rPr lang="en-US" sz="24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</a:t>
            </a:r>
            <a:endParaRPr lang="lv-LV" sz="2400" dirty="0">
              <a:solidFill>
                <a:schemeClr val="bg1"/>
              </a:solidFill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C93EAFA-6138-42A0-A617-879D828FB9D4}"/>
              </a:ext>
            </a:extLst>
          </p:cNvPr>
          <p:cNvSpPr/>
          <p:nvPr/>
        </p:nvSpPr>
        <p:spPr>
          <a:xfrm>
            <a:off x="3246120" y="3657418"/>
            <a:ext cx="5413786" cy="1241153"/>
          </a:xfrm>
          <a:prstGeom prst="roundRect">
            <a:avLst>
              <a:gd name="adj" fmla="val 9091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pPr algn="just"/>
            <a:r>
              <a:rPr lang="lv-LV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analizēt Rīgas dzīvokļu tirgu un izmantot Machine Learning metodes, lai palīdzētu atrast piemērotākos dzīvokļus klientam pēc viņa vajadzībām, budžeta un dzīves prasībām.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2612" y="192024"/>
            <a:ext cx="23881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Klienta profils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88136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8715" y="256243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Modeļi</a:t>
            </a: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7670" y="319423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Random Forest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8715" y="38130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K-Means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88136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636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Prasības dzīvoklim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13969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istabas, 45–50 m²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4963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Budžets: €65 000 – €75 000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081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1. un ne pēdējais stāvs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336518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119., 104. </a:t>
            </a:r>
            <a:r>
              <a:rPr lang="en-US" sz="12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sērija</a:t>
            </a: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renovēta</a:t>
            </a: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ēka</a:t>
            </a: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vai jaunais projekts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389305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ea typeface="Calibri" pitchFamily="34" charset="-122"/>
                <a:cs typeface="Calibri" pitchFamily="34" charset="-120"/>
              </a:rPr>
              <a:t>Rajoni: </a:t>
            </a:r>
            <a:r>
              <a:rPr lang="lv-LV" sz="1250" dirty="0">
                <a:effectLst/>
                <a:ea typeface="Calibri" panose="020F0502020204030204" pitchFamily="34" charset="0"/>
              </a:rPr>
              <a:t>Dārzciems, Imanta, Teika, Jugla, Mežciems.</a:t>
            </a:r>
            <a:endParaRPr lang="en-US" sz="125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06955D40-F37F-4DB5-ACC3-E9474BBF552F}"/>
              </a:ext>
            </a:extLst>
          </p:cNvPr>
          <p:cNvSpPr/>
          <p:nvPr/>
        </p:nvSpPr>
        <p:spPr>
          <a:xfrm>
            <a:off x="365760" y="192024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Izmantotās</a:t>
            </a: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metodes</a:t>
            </a: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un </a:t>
            </a:r>
            <a:r>
              <a:rPr lang="en-US" sz="3000" b="1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modeļi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800600" y="1485995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Sieviete ar bērnu (pusaudzis)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00600" y="111341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Vidēji ienākumi</a:t>
            </a:r>
            <a:endParaRPr lang="en-US" sz="13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1F6D615-1701-4C0F-BEE6-EAEBB843E54B}"/>
              </a:ext>
            </a:extLst>
          </p:cNvPr>
          <p:cNvSpPr/>
          <p:nvPr/>
        </p:nvSpPr>
        <p:spPr>
          <a:xfrm>
            <a:off x="457200" y="1247115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Regression</a:t>
            </a:r>
            <a:endParaRPr lang="en-US" sz="13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DE8C0DB-C819-4CBC-B2B1-EC72299CD77C}"/>
              </a:ext>
            </a:extLst>
          </p:cNvPr>
          <p:cNvSpPr/>
          <p:nvPr/>
        </p:nvSpPr>
        <p:spPr>
          <a:xfrm>
            <a:off x="457200" y="166170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Classification</a:t>
            </a:r>
            <a:endParaRPr lang="en-US" sz="13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F7E74D2-0CD7-44C4-98D1-26463A1FFE44}"/>
              </a:ext>
            </a:extLst>
          </p:cNvPr>
          <p:cNvSpPr/>
          <p:nvPr/>
        </p:nvSpPr>
        <p:spPr>
          <a:xfrm>
            <a:off x="457200" y="2081323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Clustering</a:t>
            </a:r>
            <a:endParaRPr lang="en-US" sz="13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21D9B35-CC1D-49ED-9D63-A84E5A07FD2D}"/>
              </a:ext>
            </a:extLst>
          </p:cNvPr>
          <p:cNvSpPr/>
          <p:nvPr/>
        </p:nvSpPr>
        <p:spPr>
          <a:xfrm>
            <a:off x="478715" y="2887431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Linear Regression</a:t>
            </a:r>
            <a:endParaRPr lang="en-US" sz="13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52A5D4A-6BBD-47A8-B152-1670FF861936}"/>
              </a:ext>
            </a:extLst>
          </p:cNvPr>
          <p:cNvSpPr/>
          <p:nvPr/>
        </p:nvSpPr>
        <p:spPr>
          <a:xfrm>
            <a:off x="476625" y="351392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lv-LV" sz="1400" dirty="0"/>
              <a:t>Logistic Regression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un sagatavošana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65960" cy="129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96596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riga.csv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Sākotnējie dzīvokļi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129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005840"/>
            <a:ext cx="196596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Attīrīts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Pēc tīrīšanas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29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196596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€10k – €500k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Cenu diapazons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1005840"/>
            <a:ext cx="1965960" cy="1296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005840"/>
            <a:ext cx="1965960" cy="6400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143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Vairāki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Rajonu skaits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 tīrīšanas soļi: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30632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Izņemti dzīvokļi bez koordinātēm (lat/lon)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Filtrētas nereālas cenas (&lt; €10k vai &gt; €500k) un platības (&lt; 15 m² vai &gt; 200 m²)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Ierobežots istabu skaits līdz 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297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Mazie rajoni (&lt; 30 sludinājumi) apvienoti kategorijā 'Citi'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Cenas prognozēšana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335529" cy="209073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335529" cy="844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201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Lineārā regresija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(vidējā kļūda):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018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€20 226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24509" y="2274570"/>
            <a:ext cx="20180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Vienkāršs, interpretējams modelis. Bāzlīnija salīdzinājumam.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2710" y="960120"/>
            <a:ext cx="2335529" cy="209073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2710" y="960120"/>
            <a:ext cx="233553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1294" y="1051560"/>
            <a:ext cx="2099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41294" y="1481328"/>
            <a:ext cx="20997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(vidējā kļūda):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60344" y="1737360"/>
            <a:ext cx="2080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€18 459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20576" y="2280869"/>
            <a:ext cx="21797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Uzlabots modelis. Redz nelineāras sakarības starp platību, rajonu un cenu.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6140"/>
            <a:ext cx="841248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optimizācija: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9136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Labākie parametri: </a:t>
            </a: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max_depth=15, n_estimators=100, min_samples_split=2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24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Optimizētā modeļa MAE: €18 482  —  uzlabojums ar GridSearchCV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8202E4-0B3F-48FD-A10A-B2CCF5AB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77" y="932688"/>
            <a:ext cx="3365445" cy="2118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Premium dzīvokļu noteikšana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Mērķis</a:t>
            </a:r>
            <a:r>
              <a:rPr lang="en-US" sz="20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automātiski</a:t>
            </a:r>
            <a:r>
              <a:rPr lang="en-US" sz="2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atpazīt Premium dzīvokļus (cena &gt; €150 000)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727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Precizitāte (Accuracy)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5727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/ 512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20848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Pareizi klasificēti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727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0848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14630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5727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20848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Secinājums: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3218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 darbojas konservatīvi un droši — labāk palaist garām Premium objektu, nekā maldināt klientu.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Tikai 10 gadījumos standarta dzīvoklis kļūdaini nosaukts par Premium.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965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 ir gatavs automātiskai sludinājumu marķēšanai.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Tirgus segmentācija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Klasteris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segments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€245 251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platība: 127 m²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Lieli Centra dzīvokļi, luksusa jaunie projekti</a:t>
            </a:r>
            <a:endParaRPr lang="en-US" sz="1400" i="1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743200" cy="2743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78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Klasteris 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 klase ★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3756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cena: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€49 358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337560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platība: 46 m²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670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Klienta segments! Sērijveida dzīvokļi, plašs piedāvājums</a:t>
            </a:r>
            <a:endParaRPr lang="en-US" sz="1400" i="1" dirty="0"/>
          </a:p>
        </p:txBody>
      </p:sp>
      <p:sp>
        <p:nvSpPr>
          <p:cNvPr id="20" name="Shape 18"/>
          <p:cNvSpPr/>
          <p:nvPr/>
        </p:nvSpPr>
        <p:spPr>
          <a:xfrm>
            <a:off x="6217920" y="960120"/>
            <a:ext cx="2743200" cy="2624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960120"/>
            <a:ext cx="27432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978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Klasteris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2984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Vidējā klase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09360" y="1719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cena: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9568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€119 596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2340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Vid. platība: 80 m²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6700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Lielāki dzīvokļi, standarta jaunie projekti</a:t>
            </a:r>
            <a:endParaRPr lang="en-US" sz="1400" i="1" dirty="0"/>
          </a:p>
        </p:txBody>
      </p:sp>
      <p:sp>
        <p:nvSpPr>
          <p:cNvPr id="28" name="Text 26"/>
          <p:cNvSpPr/>
          <p:nvPr/>
        </p:nvSpPr>
        <p:spPr>
          <a:xfrm>
            <a:off x="365760" y="3982211"/>
            <a:ext cx="8412480" cy="740395"/>
          </a:xfrm>
          <a:prstGeom prst="rect">
            <a:avLst/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Klienta pozīcija: 47 m², €70 000 — iekrīt Ekonom klases </a:t>
            </a:r>
            <a:r>
              <a:rPr lang="en-US" sz="2000" b="1" dirty="0" err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segmentā</a:t>
            </a: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(Klasteris 1) — lielākais piedāvājums tirgū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Klientam pieejamie dzīvokļi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137160"/>
            <a:ext cx="1737360" cy="47548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3716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varianti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istabas  •  €65 000 – €75 000  •  Imanta, Teika, Mežciems, Dārzciems, Jugla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1704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Sērija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Platība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1704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Stāvs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170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Kop.stāvi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11704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38160" y="11704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36192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60020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5E96"/>
          </a:solidFill>
          <a:ln w="12700">
            <a:solidFill>
              <a:srgbClr val="1B5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00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Teika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1536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Brīvības g. 228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15361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Staļina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536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m²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15361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153619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69480" y="1536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€75 000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1920240"/>
            <a:ext cx="859536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198424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1984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Dārzciems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Kameņu 1a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1920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19202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32120" y="19202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19202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6948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€72 000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304288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36829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368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17320" y="23042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Kaivas 50-45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91840" y="23042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23042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m²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32120" y="23042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55080" y="2304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69480" y="2304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€65 500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2688336"/>
            <a:ext cx="859536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75234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5E96"/>
          </a:solidFill>
          <a:ln w="12700">
            <a:solidFill>
              <a:srgbClr val="1B5E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752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Teika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417320" y="2688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Stāmerienas 2/1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291840" y="26883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Staļina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54880" y="26883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m²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532120" y="268833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55080" y="26883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269480" y="26883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€69 000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072384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13639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136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417320" y="30723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Kaivas 50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291840" y="30723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54880" y="30723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m²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32120" y="30723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355080" y="307238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26948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€69 500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3456432"/>
            <a:ext cx="859536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3520440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5204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417320" y="34564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Hipokrāta 9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291840" y="3456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754880" y="34564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m²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532120" y="34564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355080" y="34564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269480" y="34564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€67 900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4320" y="3904488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3904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41732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Kaivas 50-45d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3291840" y="3840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754880" y="38404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m²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5532120" y="3840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355080" y="38404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269480" y="3840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€65 500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74320" y="4224528"/>
            <a:ext cx="8595360" cy="384048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4288536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B5E96"/>
          </a:solidFill>
          <a:ln w="12700">
            <a:solidFill>
              <a:srgbClr val="1B5E9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288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Teika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417320" y="4224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Bērzpils 3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29184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Hrušč.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4754880" y="42245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m²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532120" y="4224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355080" y="42245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7269480" y="4224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€65 000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74320" y="461772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274320" y="4617720"/>
            <a:ext cx="2011680" cy="457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7472" y="46634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347472" y="48646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Visvairāk variantu — 4 dzīvokļi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450592" y="461772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2450592" y="4617720"/>
            <a:ext cx="20116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523744" y="46634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€65 000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2523744" y="48646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Lētākais variants — Teika, 42 m²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626864" y="461772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626864" y="4617720"/>
            <a:ext cx="201168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00016" y="46634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€75 000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4700016" y="48646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Dārgākais variants — Teika, 56 m²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6803136" y="461772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6803136" y="4617720"/>
            <a:ext cx="2011680" cy="45720"/>
          </a:xfrm>
          <a:prstGeom prst="rect">
            <a:avLst/>
          </a:prstGeom>
          <a:solidFill>
            <a:srgbClr val="1B5E96"/>
          </a:solidFill>
          <a:ln w="12700">
            <a:solidFill>
              <a:srgbClr val="1B5E9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876288" y="46634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€69 425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6876288" y="486460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Vidējā cena — 8 dzīvokļi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Secinājumi klientam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20040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rajoni pēc ML analīzes: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4114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Mežciems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lv-LV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Visvairāk variantu — 4 dzīvokļi budžetā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4114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Teika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budžeta/kvalitātes balanss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411480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lv-LV" sz="1600" b="1" dirty="0">
                <a:solidFill>
                  <a:schemeClr val="bg1"/>
                </a:solidFill>
              </a:rPr>
              <a:t>Dārzciems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Lielāka</a:t>
            </a: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platība</a:t>
            </a: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piedāvājuma</a:t>
            </a: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budžetā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modeļu rezultāti: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€18 482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37760" y="1938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MAE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762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ar GridSearchCV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8895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dzīvokļu precizitāte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9992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37760" y="33649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Atrasti varianti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6027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Dzīvokļi klienta budžetā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7939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Rekomendācija</a:t>
            </a: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Prioritāri apskatīt Imantā un Teikā. Ja vēlas jaunāku projektu — apsvērt budžeta palielināšanu par €10–15k.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703</Words>
  <Application>Microsoft Office PowerPoint</Application>
  <PresentationFormat>On-screen Show (16:9)</PresentationFormat>
  <Paragraphs>187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Rīgas dzīvokļu tirgus analīze</dc:title>
  <dc:subject>PptxGenJS Presentation</dc:subject>
  <dc:creator>PptxGenJS</dc:creator>
  <cp:lastModifiedBy>Līga Punāne</cp:lastModifiedBy>
  <cp:revision>22</cp:revision>
  <dcterms:created xsi:type="dcterms:W3CDTF">2026-05-23T17:18:31Z</dcterms:created>
  <dcterms:modified xsi:type="dcterms:W3CDTF">2026-05-25T18:52:12Z</dcterms:modified>
</cp:coreProperties>
</file>